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Montserrat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hiwiFoKOSiRAtNYQxxcj7HeZv/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Apresentamos a Freelacademy, uma solução inovadora para o mercado de trabalho autônomo. Nosso objetivo é conectar talentos e simplificar a gestão de projetos, transformando a forma como freelancers e clientes interagem. Esta plataforma foi desenvolvida por nossa equipe, composta por Aldair Terra, João Silva, Lucas Silva e Marcos Tavares, como parte do curso Técnico de Informática do Senac. Agora, vamos explorar nossa proposta de valor.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Diante dos desafios do mercado, nossa proposta é a Freelacademy, uma plataforma integrada que conecta freelancers e empresas de forma facilitada. Criamos um ambiente otimizado onde clientes podem cadastrar suas demandas e encontrar profissionais qualificados com agilidade. Para os freelancers, a plataforma oferece uma gestão eficiente de currículos, acompanhamento de chamados e interação direta com os clientes. Nosso diferencial é proporcionar uma transição facilitada entre cliente e freelancer, com filtros inteligentes para contratação e um ambiente seguro para negociações. Isso resulta em conexão facilitada e projetos bem-sucedidos. Mas como tudo isso funciona na prática?</a:t>
            </a:r>
            <a:endParaRPr/>
          </a:p>
        </p:txBody>
      </p:sp>
      <p:sp>
        <p:nvSpPr>
          <p:cNvPr id="30" name="Google Shape;3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funcionamento da Freelacademy é intuitivo e se divide em três etapas simples, garantindo uma experiência fluida para todos os usuários. Primeiro, na etapa 'Publique', clientes cadastram suas demandas e especificam as necessidades do projeto de forma clara. Em seguida, na etapa 'Contrate', eles encontram e contratam profissionais qualificados, utilizando filtros inteligentes para uma seleção precisa e segura. Por fim, na etapa 'Gerencie', tanto freelancers quanto clientes acompanham os chamados, interagem e gerenciam seus projetos com facilidade. Essas etapas garantem um processo organizado e eficiente. Agora, vamos detalhar as plataformas que compõem nosso ecossistema.</a:t>
            </a:r>
            <a:endParaRPr/>
          </a:p>
        </p:txBody>
      </p:sp>
      <p:sp>
        <p:nvSpPr>
          <p:cNvPr id="45" name="Google Shape;4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Agora, vamos detalhar para quem a Freelacademy foi desenvolvida. Nosso foco é conectar dois grupos essenciais: freelancers e clientes. Para os freelancers, a plataforma oferece um espaço para divulgar serviços, gerenciar chamados e portfólios, e acompanhar o histórico de trabalhos, ampliando sua visibilidade profissional. Já para os clientes, sejam empresas ou pessoas físicas, a Freelacademy simplifica a contratação de serviços, permitindo encontrar profissionais qualificados de forma prática e eficiente. É importante ressaltar que a plataforma é acessível a qualquer pessoa com 18 anos ou mais, garantindo um alcance amplo. Assim, a Freelacademy se posiciona como um elo fundamental entre a oferta e a demanda no mercado de trabalho autônomo. E com esse público em mente, vamos explorar os benefícios e resultados que esperamos alcançar.</a:t>
            </a:r>
            <a:endParaRPr/>
          </a:p>
        </p:txBody>
      </p:sp>
      <p:sp>
        <p:nvSpPr>
          <p:cNvPr id="65" name="Google Shape;6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atender às diversas necessidades de nossos usuários, a Freelacademy oferece plataformas distintas, focadas em produtividade e uma experiência completa. A versão Desktop é ideal para freelancers, permitindo o gerenciamento de seus perfis, histórico de pagamentos e edição de portfólio offline, otimizando seu tempo. Já a versão Web oferece uma gestão total, tanto para freelancers quanto para clientes, com solicitações de projetos em tempo real e um gateway de pagamentos integrado. Essa dualidade garante flexibilidade e eficiência. Em seguida, abordaremos as funcionalidades essenciais que cada plataforma oferece.</a:t>
            </a:r>
            <a:endParaRPr/>
          </a:p>
        </p:txBody>
      </p:sp>
      <p:sp>
        <p:nvSpPr>
          <p:cNvPr id="93" name="Google Shape;9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Agora, vamos detalhar as funcionalidades essenciais da Freelacademy. Nós separamos os requisitos funcionais para as versões web e desktop, garantindo que cada plataforma atenda às necessidades específicas de nossos usuários. Na versão web, o foco está na interação completa entre clientes e freelancers. Aqui, os usuários podem se cadastrar, publicar e buscar projetos, enviar propostas e gerenciar pagamentos. Já a versão desktop é otimizada para a gestão do dia a dia do freelancer. Ela permite gerenciar currículos, acompanhar chamados, visualizar o histórico de trabalhos e receber notificações. Essa distinção garante uma experiência fluida e eficiente, adaptada ao contexto de uso de cada plataforma. Mas a funcionalidade não é tudo; a qualidade também é crucial.</a:t>
            </a:r>
            <a:endParaRPr/>
          </a:p>
        </p:txBody>
      </p:sp>
      <p:sp>
        <p:nvSpPr>
          <p:cNvPr id="118" name="Google Shape;11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qualidade e o desempenho são pilares da Freelacademy, e é isso que os requisitos não funcionais garantem. Eles definem como o sistema deve operar, focando na experiência do usuário e na robustez da plataforma. A segurança é primordial, protegendo dados e transações com criptografia e controle de acesso. O desempenho assegura que o sistema seja rápido e responsivo, sem atrasos. A usabilidade garante uma interface intuitiva e fácil de usar para todos. E a confiabilidade significa que a plataforma estará sempre disponível e estável. Esses requisitos são a base para uma experiência de usuário excepcional. Agora, vamos ver como tudo isso se estrutura por trás das telas.</a:t>
            </a:r>
            <a:endParaRPr/>
          </a:p>
        </p:txBody>
      </p:sp>
      <p:sp>
        <p:nvSpPr>
          <p:cNvPr id="151" name="Google Shape;15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arquitetura do sistema é o esqueleto da Freelacademy, definindo como todos os componentes se encaixam. Ela é crucial para a escalabilidade e manutenção da plataforma. Utilizamos diagramas de casos de uso para mapear as interações dos usuários, tanto na web quanto no desktop. Os diagramas de classes detalham as entidades e seus relacionamentos, enquanto o dicionário de dados define cada elemento. Nosso banco de dados é relacional e robusto, com tabelas dedicadas a freelancers, empresas, propostas, contratos, pagamentos e avaliações. Essa estrutura garante a integridade e a organização das informações. Com essa base sólida, podemos construir a plataforma usando as melhores ferramentas.</a:t>
            </a:r>
            <a:endParaRPr/>
          </a:p>
        </p:txBody>
      </p:sp>
      <p:sp>
        <p:nvSpPr>
          <p:cNvPr id="175" name="Google Shape;17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base tecnológica da Freelacademy foi escolhida para garantir eficiência, segurança e escalabilidade. Usamos Python, JavaScript, HTML5 e CSS3 como linguagens principais. Para o backend, optamos pelo Django, um framework Python que acelera o desenvolvimento e oferece alta segurança. Nosso banco de dados é robusto, projetado para gerenciar grandes volumes de usuários e projetos. E, como já mencionamos, a plataforma estará disponível tanto na web quanto no desktop. Essa combinação de tecnologias nos permite entregar uma solução moderna e confiável. Mas, e se algo der errado? A segurança dos dados é fundamental.</a:t>
            </a:r>
            <a:endParaRPr/>
          </a:p>
        </p:txBody>
      </p:sp>
      <p:sp>
        <p:nvSpPr>
          <p:cNvPr id="204" name="Google Shape;20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segurança dos dados é uma prioridade máxima na Freelacademy, e nossa política de backup e recuperação reflete isso. Realizamos backups completos semanalmente, aos domingos, para garantir que nenhuma informação seja perdida. Esses backups são armazenados em mídias físicas, como HDs externos, em um local seguro e com criptografia para dados essenciais. Mantemos os backups por um mês, oferecendo um histórico de recuperação. Nossos procedimentos de recuperação são rápidos e eficazes, com testes de integridade trimestrais. O acesso é restrito e auditado, e monitoramos continuamente os logs para identificar qualquer anomalia. Isso assegura a continuidade das operações e a proteção das informações. Com essa segurança, podemos focar nos benefícios que a Freelacademy trará.</a:t>
            </a:r>
            <a:endParaRPr/>
          </a:p>
        </p:txBody>
      </p:sp>
      <p:sp>
        <p:nvSpPr>
          <p:cNvPr id="228" name="Google Shape;22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Agora, vamos analisar o impacto e os resultados que a Freelacademy trará para o mercado. Para os freelancers, a plataforma significa mais oportunidades, uma gestão simplificada de suas atividades e uma visibilidade profissional ampliada. Eles terão um ambiente seguro para interagir com clientes e gerenciar seus projetos. Para os clientes, a Freelacademy garante uma contratação eficiente, acesso a talentos qualificados e a certeza de projetos bem-sucedidos. Nosso objetivo é aumentar a produtividade de ambos os lados, elevando a satisfação e impulsionando o crescimento do mercado de trabalho autônomo. Esses resultados são a base para a evolução contínua da nossa plataforma.</a:t>
            </a:r>
            <a:endParaRPr/>
          </a:p>
        </p:txBody>
      </p:sp>
      <p:sp>
        <p:nvSpPr>
          <p:cNvPr id="257" name="Google Shape;25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 base nos benefícios e resultados que a Freelacademy já oferece, olhamos para o futuro com um plano de evolução contínua. Nossas melhorias futuras incluem a implementação de inteligência artificial para um matchmaking avançado entre freelancers e projetos, otimizando as conexões. Além disso, desenvolveremos um aplicativo mobile nativo para iOS e Android, facilitando a gestão em tempo real para todos os usuários. Introduziremos também um sistema de pagamento escrow, aumentando a segurança nas transações e a confiança na plataforma. Por fim, planejamos a expansão global, com suporte a múltiplos idiomas e moedas, para internacionalizar os serviços da Freelacademy. Essas inovações garantem que a plataforma continuará crescendo e se adaptando às necessidades do mercado. E com isso, chegamos ao final da nossa apresentação.</a:t>
            </a:r>
            <a:endParaRPr/>
          </a:p>
        </p:txBody>
      </p:sp>
      <p:sp>
        <p:nvSpPr>
          <p:cNvPr id="278" name="Google Shape;278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Chegamos ao fim da nossa apresentação sobre a Freelacademy. Agradecemos imensamente a atenção de todos. Esperamos ter demonstrado como nossa plataforma conecta talentos e simplifica projetos, beneficiando tanto freelancers quanto clientes. Agora, estamos abertos para quaisquer perguntas que possam ter. Sintam-se à vontade para nos contatar através do e-mail, site ou redes sociais, caso surjam dúvidas posteriormente. Muito obrigado.</a:t>
            </a:r>
            <a:endParaRPr/>
          </a:p>
        </p:txBody>
      </p:sp>
      <p:sp>
        <p:nvSpPr>
          <p:cNvPr id="305" name="Google Shape;305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" y="57150"/>
            <a:ext cx="90297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5500" y="-1357850"/>
            <a:ext cx="5369524" cy="759419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6015038" y="57150"/>
            <a:ext cx="3186113" cy="5143500"/>
          </a:xfrm>
          <a:prstGeom prst="rect">
            <a:avLst/>
          </a:prstGeom>
          <a:solidFill>
            <a:srgbClr val="0031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300788" y="1326952"/>
            <a:ext cx="2900363" cy="139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84"/>
              <a:buFont typeface="Montserrat"/>
              <a:buNone/>
            </a:pPr>
            <a:r>
              <a:rPr lang="en-US" sz="784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INTEGRANTES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300788" y="1537692"/>
            <a:ext cx="2900363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Aldair Thiago Dias Terra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300788" y="1925241"/>
            <a:ext cx="2900363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João Marcos Lima da Silva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300788" y="2312789"/>
            <a:ext cx="2900363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Lucas Matheus Bertolino da Silva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300788" y="2700338"/>
            <a:ext cx="2900363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Marcos Vinicios Alves Tavares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300788" y="3159323"/>
            <a:ext cx="2900363" cy="139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84"/>
              <a:buFont typeface="Montserrat"/>
              <a:buNone/>
            </a:pPr>
            <a:r>
              <a:rPr lang="en-US" sz="784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CURSO E TURMA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300788" y="3370064"/>
            <a:ext cx="2900363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Técnico de Informática - Turma 21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300788" y="3757613"/>
            <a:ext cx="2900363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Senac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57150" y="57150"/>
            <a:ext cx="9144000" cy="1285875"/>
          </a:xfrm>
          <a:prstGeom prst="rect">
            <a:avLst/>
          </a:prstGeom>
          <a:solidFill>
            <a:srgbClr val="0031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28650" y="485775"/>
            <a:ext cx="8572500" cy="55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8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93"/>
              <a:buFont typeface="Montserrat"/>
              <a:buNone/>
            </a:pPr>
            <a:r>
              <a:rPr lang="en-US" sz="3293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NOSSA PROPOSTA</a:t>
            </a:r>
            <a:endParaRPr sz="32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28650" y="1914525"/>
            <a:ext cx="3786188" cy="278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1602"/>
              <a:buFont typeface="Montserrat"/>
              <a:buNone/>
            </a:pPr>
            <a:r>
              <a:rPr lang="en-US" sz="1602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Plataforma Integrada</a:t>
            </a:r>
            <a:endParaRPr sz="16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28650" y="2336006"/>
            <a:ext cx="37861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Sistema que conecta freelancers e empresas para contratação de serviços</a:t>
            </a:r>
            <a:endParaRPr sz="1050">
              <a:solidFill>
                <a:srgbClr val="00315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endParaRPr sz="1050">
              <a:solidFill>
                <a:srgbClr val="00315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28650" y="3221831"/>
            <a:ext cx="3786188" cy="278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1602"/>
              <a:buFont typeface="Montserrat"/>
              <a:buNone/>
            </a:pPr>
            <a:r>
              <a:rPr lang="en-US" sz="1602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Ambiente Otimizado</a:t>
            </a:r>
            <a:endParaRPr sz="16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28650" y="3643313"/>
            <a:ext cx="37861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Clientes cadastram demandas e encontram profissionais qualificados facilmente.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28650" y="4222033"/>
            <a:ext cx="36687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1602"/>
              <a:buFont typeface="Montserrat"/>
              <a:buNone/>
            </a:pPr>
            <a:r>
              <a:rPr lang="en-US" sz="1602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Gestão Eficiente</a:t>
            </a:r>
            <a:endParaRPr sz="1602" b="1" i="0" u="none" strike="noStrike" cap="none">
              <a:solidFill>
                <a:srgbClr val="0093D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Freelancers gerenciam currículos, chamados e interagem com clientes de forma eficaz.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1602"/>
              <a:buFont typeface="Montserrat"/>
              <a:buNone/>
            </a:pPr>
            <a:endParaRPr sz="1602" b="1">
              <a:solidFill>
                <a:srgbClr val="0093D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843463" y="1914525"/>
            <a:ext cx="3786188" cy="3921919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" name="Google Shape;40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9369" y="3271838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5448002" y="4229100"/>
            <a:ext cx="2577108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193"/>
              <a:buFont typeface="Montserrat"/>
              <a:buNone/>
            </a:pPr>
            <a:r>
              <a:rPr lang="en-US" sz="1193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CONEXÃO FACILITADA</a:t>
            </a:r>
            <a:br>
              <a:rPr lang="en-US" sz="1193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193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PROJETOS BEM-SUCEDIDOS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" y="57150"/>
            <a:ext cx="90297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"/>
          <p:cNvSpPr/>
          <p:nvPr/>
        </p:nvSpPr>
        <p:spPr>
          <a:xfrm>
            <a:off x="57150" y="57150"/>
            <a:ext cx="9144000" cy="1071563"/>
          </a:xfrm>
          <a:prstGeom prst="rect">
            <a:avLst/>
          </a:prstGeom>
          <a:solidFill>
            <a:srgbClr val="0031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628650" y="342900"/>
            <a:ext cx="8572500" cy="48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62"/>
              <a:buFont typeface="Montserrat"/>
              <a:buNone/>
            </a:pPr>
            <a:r>
              <a:rPr lang="en-US" sz="2862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COMO FUNCIONA</a:t>
            </a:r>
            <a:endParaRPr sz="286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85775" y="1700213"/>
            <a:ext cx="2486025" cy="696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277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4145"/>
              <a:buFont typeface="Montserrat"/>
              <a:buNone/>
            </a:pPr>
            <a:r>
              <a:rPr lang="en-US" sz="4145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414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" name="Google Shape;51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60897" y="2150269"/>
            <a:ext cx="535781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"/>
          <p:cNvSpPr/>
          <p:nvPr/>
        </p:nvSpPr>
        <p:spPr>
          <a:xfrm>
            <a:off x="485775" y="2775347"/>
            <a:ext cx="2486025" cy="278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602"/>
              <a:buFont typeface="Montserrat"/>
              <a:buNone/>
            </a:pPr>
            <a:r>
              <a:rPr lang="en-US" sz="1602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PUBLIQUE</a:t>
            </a:r>
            <a:endParaRPr sz="16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85775" y="3368278"/>
            <a:ext cx="2486025" cy="54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942"/>
              <a:buFont typeface="Montserrat"/>
              <a:buNone/>
            </a:pPr>
            <a:r>
              <a:rPr lang="en-US" sz="942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Clientes cadastram suas demandas e especificam as necessidades do projeto na plataforma.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3386138" y="1700213"/>
            <a:ext cx="2486025" cy="696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277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4145"/>
              <a:buFont typeface="Montserrat"/>
              <a:buNone/>
            </a:pPr>
            <a:r>
              <a:rPr lang="en-US" sz="4145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414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4838" y="2150269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>
            <a:off x="3386138" y="2775347"/>
            <a:ext cx="2486025" cy="278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602"/>
              <a:buFont typeface="Montserrat"/>
              <a:buNone/>
            </a:pPr>
            <a:r>
              <a:rPr lang="en-US" sz="1602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CONTRATE</a:t>
            </a:r>
            <a:endParaRPr sz="16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386138" y="3368278"/>
            <a:ext cx="2486025" cy="54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942"/>
              <a:buFont typeface="Montserrat"/>
              <a:buNone/>
            </a:pPr>
            <a:r>
              <a:rPr lang="en-US" sz="942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Encontre profissionais qualificados através de filtros inteligentes e contrate com segurança.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286500" y="1700213"/>
            <a:ext cx="2486025" cy="696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277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4145"/>
              <a:buFont typeface="Montserrat"/>
              <a:buNone/>
            </a:pPr>
            <a:r>
              <a:rPr lang="en-US" sz="4145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414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88411" y="2150269"/>
            <a:ext cx="482203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6286500" y="2775347"/>
            <a:ext cx="2486025" cy="278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602"/>
              <a:buFont typeface="Montserrat"/>
              <a:buNone/>
            </a:pPr>
            <a:r>
              <a:rPr lang="en-US" sz="1602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GERENCIE</a:t>
            </a:r>
            <a:endParaRPr sz="16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286500" y="3368278"/>
            <a:ext cx="2486025" cy="54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942"/>
              <a:buFont typeface="Montserrat"/>
              <a:buNone/>
            </a:pPr>
            <a:r>
              <a:rPr lang="en-US" sz="942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Acompanhe chamados, interaja com clientes e gerencie seu portfólio com facilidade.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" y="57150"/>
            <a:ext cx="9029700" cy="572214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/>
          <p:nvPr/>
        </p:nvSpPr>
        <p:spPr>
          <a:xfrm>
            <a:off x="57150" y="57150"/>
            <a:ext cx="9144000" cy="1143000"/>
          </a:xfrm>
          <a:prstGeom prst="rect">
            <a:avLst/>
          </a:prstGeom>
          <a:solidFill>
            <a:srgbClr val="0031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0"/>
          <p:cNvSpPr/>
          <p:nvPr/>
        </p:nvSpPr>
        <p:spPr>
          <a:xfrm>
            <a:off x="628650" y="414338"/>
            <a:ext cx="8572500" cy="48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62"/>
              <a:buFont typeface="Montserrat"/>
              <a:buNone/>
            </a:pPr>
            <a:r>
              <a:rPr lang="en-US" sz="2862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PÚBLICO-ALVO</a:t>
            </a:r>
            <a:endParaRPr sz="286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1814513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/>
          <p:nvPr/>
        </p:nvSpPr>
        <p:spPr>
          <a:xfrm>
            <a:off x="628650" y="2471738"/>
            <a:ext cx="342900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8"/>
              <a:buFont typeface="Montserrat"/>
              <a:buNone/>
            </a:pPr>
            <a:r>
              <a:rPr lang="en-US" sz="1808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FREELANCERS</a:t>
            </a:r>
            <a:endParaRPr sz="18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914400" y="3241477"/>
            <a:ext cx="3143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Profissionais autônomos que buscam divulgar seus serviços.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914400" y="3805825"/>
            <a:ext cx="300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Gerenciamento de chamados e portfólios.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914400" y="4370189"/>
            <a:ext cx="314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Acompanhamento do histórico de trabalhos.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0"/>
          <p:cNvSpPr/>
          <p:nvPr/>
        </p:nvSpPr>
        <p:spPr>
          <a:xfrm>
            <a:off x="4629150" y="1200150"/>
            <a:ext cx="4572000" cy="4000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914400" y="3241477"/>
            <a:ext cx="60387" cy="15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27"/>
              <a:buFont typeface="Montserrat"/>
              <a:buNone/>
            </a:pPr>
            <a:r>
              <a:rPr lang="en-US" sz="727" b="0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■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0"/>
          <p:cNvSpPr/>
          <p:nvPr/>
        </p:nvSpPr>
        <p:spPr>
          <a:xfrm>
            <a:off x="914400" y="3805833"/>
            <a:ext cx="60387" cy="15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27"/>
              <a:buFont typeface="Montserrat"/>
              <a:buNone/>
            </a:pPr>
            <a:r>
              <a:rPr lang="en-US" sz="727" b="0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■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0"/>
          <p:cNvSpPr/>
          <p:nvPr/>
        </p:nvSpPr>
        <p:spPr>
          <a:xfrm>
            <a:off x="914400" y="4370189"/>
            <a:ext cx="60387" cy="15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27"/>
              <a:buFont typeface="Montserrat"/>
              <a:buNone/>
            </a:pPr>
            <a:r>
              <a:rPr lang="en-US" sz="727" b="0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■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00650" y="1814513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/>
          <p:nvPr/>
        </p:nvSpPr>
        <p:spPr>
          <a:xfrm>
            <a:off x="5200650" y="2471738"/>
            <a:ext cx="342900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8"/>
              <a:buFont typeface="Montserrat"/>
              <a:buNone/>
            </a:pPr>
            <a:r>
              <a:rPr lang="en-US" sz="1808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CLIENTES</a:t>
            </a:r>
            <a:endParaRPr sz="18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5486400" y="3241477"/>
            <a:ext cx="3143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Empresas ou pessoas físicas que precisam contratar.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5486400" y="3805833"/>
            <a:ext cx="3143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Busca por serviços de forma prática e eficiente.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5486400" y="4370189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Encontrar profissionais qualificados.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7150" y="5343525"/>
            <a:ext cx="9144000" cy="30718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0"/>
          <p:cNvSpPr/>
          <p:nvPr/>
        </p:nvSpPr>
        <p:spPr>
          <a:xfrm>
            <a:off x="57150" y="5343525"/>
            <a:ext cx="9144000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0"/>
          <p:cNvSpPr/>
          <p:nvPr/>
        </p:nvSpPr>
        <p:spPr>
          <a:xfrm>
            <a:off x="57150" y="5343525"/>
            <a:ext cx="9144000" cy="307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0050" rIns="0" bIns="0" anchor="t" anchorCtr="0">
            <a:spAutoFit/>
          </a:bodyPr>
          <a:lstStyle/>
          <a:p>
            <a:pPr marL="0" marR="0" lvl="0" indent="0" algn="ctr" rtl="0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942"/>
              <a:buFont typeface="Montserrat"/>
              <a:buNone/>
            </a:pPr>
            <a:r>
              <a:rPr lang="en-US" sz="942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Acessível para qualquer pessoa com idade igual ou superior a 18 anos.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0"/>
          <p:cNvSpPr/>
          <p:nvPr/>
        </p:nvSpPr>
        <p:spPr>
          <a:xfrm>
            <a:off x="5486400" y="3241477"/>
            <a:ext cx="60387" cy="15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27"/>
              <a:buFont typeface="Montserrat"/>
              <a:buNone/>
            </a:pPr>
            <a:r>
              <a:rPr lang="en-US" sz="727" b="0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■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5486400" y="3805833"/>
            <a:ext cx="60387" cy="15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27"/>
              <a:buFont typeface="Montserrat"/>
              <a:buNone/>
            </a:pPr>
            <a:r>
              <a:rPr lang="en-US" sz="727" b="0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■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5486400" y="4370189"/>
            <a:ext cx="60387" cy="15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27"/>
              <a:buFont typeface="Montserrat"/>
              <a:buNone/>
            </a:pPr>
            <a:r>
              <a:rPr lang="en-US" sz="727" b="0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■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" y="57150"/>
            <a:ext cx="90297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4"/>
          <p:cNvSpPr/>
          <p:nvPr/>
        </p:nvSpPr>
        <p:spPr>
          <a:xfrm>
            <a:off x="628650" y="485775"/>
            <a:ext cx="8572500" cy="42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782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755"/>
              <a:buFont typeface="Montserrat"/>
              <a:buNone/>
            </a:pPr>
            <a:r>
              <a:rPr lang="en-US" sz="2755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ECOSSISTEMA FREELACADEMY</a:t>
            </a:r>
            <a:endParaRPr sz="275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7150" y="1367303"/>
            <a:ext cx="4572000" cy="3429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/>
          </a:p>
        </p:txBody>
      </p:sp>
      <p:sp>
        <p:nvSpPr>
          <p:cNvPr id="98" name="Google Shape;98;p4"/>
          <p:cNvSpPr/>
          <p:nvPr/>
        </p:nvSpPr>
        <p:spPr>
          <a:xfrm>
            <a:off x="4600575" y="1367303"/>
            <a:ext cx="28575" cy="3429000"/>
          </a:xfrm>
          <a:prstGeom prst="rect">
            <a:avLst/>
          </a:prstGeom>
          <a:solidFill>
            <a:srgbClr val="0031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628650" y="1653053"/>
            <a:ext cx="3571875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683"/>
              <a:buFont typeface="Montserrat"/>
              <a:buNone/>
            </a:pPr>
            <a:r>
              <a:rPr lang="en-US" sz="683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FOCO EM PRODUTIVIDADE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1870937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/>
          <p:nvPr/>
        </p:nvSpPr>
        <p:spPr>
          <a:xfrm>
            <a:off x="1028700" y="1845934"/>
            <a:ext cx="1923455" cy="278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1602"/>
              <a:buFont typeface="Montserrat"/>
              <a:buNone/>
            </a:pPr>
            <a:r>
              <a:rPr lang="en-US" sz="1602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Versão Desktop</a:t>
            </a:r>
            <a:endParaRPr sz="16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2374571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1150144" y="2338853"/>
            <a:ext cx="2405658" cy="460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159"/>
              <a:buFont typeface="Montserrat"/>
              <a:buNone/>
            </a:pPr>
            <a:r>
              <a:rPr lang="en-US" sz="1159" b="0" i="0" u="none" strike="noStrike" cap="none" dirty="0" err="1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Gerenciamento</a:t>
            </a:r>
            <a:r>
              <a:rPr lang="en-US" sz="1159" b="0" i="0" u="none" strike="noStrike" cap="none" dirty="0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1159" b="0" i="0" u="none" strike="noStrike" cap="none" dirty="0" err="1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Serviços</a:t>
            </a:r>
            <a:endParaRPr lang="en-US" sz="1159" dirty="0">
              <a:solidFill>
                <a:srgbClr val="00315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159"/>
              <a:buFont typeface="Montserrat"/>
              <a:buNone/>
            </a:pPr>
            <a:r>
              <a:rPr lang="en-US" sz="1159" b="0" i="0" u="none" strike="noStrike" cap="none" dirty="0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/</a:t>
            </a:r>
            <a:r>
              <a:rPr lang="en-US" sz="1159" b="0" i="0" u="none" strike="noStrike" cap="none" dirty="0" err="1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Portífolio</a:t>
            </a:r>
            <a:r>
              <a:rPr lang="en-US" sz="1159" b="0" i="0" u="none" strike="noStrike" cap="none" dirty="0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159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150144" y="2708542"/>
            <a:ext cx="1969889" cy="19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159"/>
              <a:buFont typeface="Montserrat"/>
              <a:buNone/>
            </a:pPr>
            <a:endParaRPr sz="115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629150" y="1367303"/>
            <a:ext cx="457200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5200650" y="1653053"/>
            <a:ext cx="3571875" cy="12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683"/>
              <a:buFont typeface="Montserrat"/>
              <a:buNone/>
            </a:pPr>
            <a:r>
              <a:rPr lang="en-US" sz="683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EXPERIÊNCIA COMPLETA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00650" y="18709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5572125" y="1845934"/>
            <a:ext cx="1462683" cy="278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1602"/>
              <a:buFont typeface="Montserrat"/>
              <a:buNone/>
            </a:pPr>
            <a:r>
              <a:rPr lang="en-US" sz="1602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Versão Web</a:t>
            </a:r>
            <a:endParaRPr sz="16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0" y="2374571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/>
          <p:nvPr/>
        </p:nvSpPr>
        <p:spPr>
          <a:xfrm>
            <a:off x="5722144" y="2338853"/>
            <a:ext cx="2652117" cy="19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159"/>
              <a:buFont typeface="Montserrat"/>
              <a:buNone/>
            </a:pPr>
            <a:r>
              <a:rPr lang="en-US" sz="1159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Gestão Total (Freelancer &amp; Cliente)</a:t>
            </a:r>
            <a:endParaRPr sz="115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86400" y="2744260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5722144" y="2708542"/>
            <a:ext cx="3050381" cy="382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159"/>
              <a:buFont typeface="Montserrat"/>
              <a:buNone/>
            </a:pPr>
            <a:r>
              <a:rPr lang="en-US" sz="1159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Solicitações de Projetos em Tempo Real</a:t>
            </a:r>
            <a:endParaRPr sz="115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0" y="3305045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5722144" y="3269326"/>
            <a:ext cx="2753916" cy="19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421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159"/>
              <a:buFont typeface="Montserrat"/>
              <a:buNone/>
            </a:pPr>
            <a:r>
              <a:rPr lang="en-US" sz="1159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Gateway de Pagamentos Integrado</a:t>
            </a:r>
            <a:endParaRPr sz="115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" y="57150"/>
            <a:ext cx="90297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57150" y="57150"/>
            <a:ext cx="9144000" cy="1143000"/>
          </a:xfrm>
          <a:prstGeom prst="rect">
            <a:avLst/>
          </a:prstGeom>
          <a:solidFill>
            <a:srgbClr val="0031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628650" y="414338"/>
            <a:ext cx="8572500" cy="48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62"/>
              <a:buFont typeface="Montserrat"/>
              <a:buNone/>
            </a:pPr>
            <a:r>
              <a:rPr lang="en-US" sz="2862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REQUISITOS FUNCIONAIS</a:t>
            </a:r>
            <a:endParaRPr sz="286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181451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/>
          <p:nvPr/>
        </p:nvSpPr>
        <p:spPr>
          <a:xfrm>
            <a:off x="628650" y="2471738"/>
            <a:ext cx="342900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1808"/>
              <a:buFont typeface="Montserrat"/>
              <a:buNone/>
            </a:pPr>
            <a:r>
              <a:rPr lang="en-US" sz="1808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VERSÃO WEB</a:t>
            </a:r>
            <a:endParaRPr sz="18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914400" y="3241477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Cadastro e Login de Usuários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914400" y="3577233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Publicação e Busca de Projetos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914400" y="3912989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Envio e Recebimento de Propostas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914400" y="4248745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Sistema de Mensagens Interno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914400" y="4584502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Gerenciamento de Pagamentos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629150" y="1200150"/>
            <a:ext cx="4572000" cy="4000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914400" y="3241477"/>
            <a:ext cx="28575" cy="15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27"/>
              <a:buFont typeface="Montserrat"/>
              <a:buNone/>
            </a:pPr>
            <a:r>
              <a:rPr lang="en-US" sz="727" b="0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914400" y="3577233"/>
            <a:ext cx="28575" cy="15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27"/>
              <a:buFont typeface="Montserrat"/>
              <a:buNone/>
            </a:pPr>
            <a:r>
              <a:rPr lang="en-US" sz="727" b="0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914400" y="3912989"/>
            <a:ext cx="28575" cy="15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27"/>
              <a:buFont typeface="Montserrat"/>
              <a:buNone/>
            </a:pPr>
            <a:r>
              <a:rPr lang="en-US" sz="727" b="0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914400" y="4248745"/>
            <a:ext cx="28575" cy="15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27"/>
              <a:buFont typeface="Montserrat"/>
              <a:buNone/>
            </a:pPr>
            <a:r>
              <a:rPr lang="en-US" sz="727" b="0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914400" y="4584502"/>
            <a:ext cx="28575" cy="15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27"/>
              <a:buFont typeface="Montserrat"/>
              <a:buNone/>
            </a:pPr>
            <a:r>
              <a:rPr lang="en-US" sz="727" b="0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00650" y="1814513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5200650" y="2471738"/>
            <a:ext cx="342900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1808"/>
              <a:buFont typeface="Montserrat"/>
              <a:buNone/>
            </a:pPr>
            <a:r>
              <a:rPr lang="en-US" sz="1808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VERSÃO DESKTOP</a:t>
            </a:r>
            <a:endParaRPr sz="18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486400" y="3241477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Gerenciamento de Currículos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486400" y="3577233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Acompanhamento de Chamados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486400" y="3912989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Histórico de Trabalhos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486400" y="4248745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Configurações de Perfil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486400" y="4584502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Notificações de Projetos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486400" y="3241477"/>
            <a:ext cx="28575" cy="15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27"/>
              <a:buFont typeface="Montserrat"/>
              <a:buNone/>
            </a:pPr>
            <a:r>
              <a:rPr lang="en-US" sz="727" b="0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486400" y="3577233"/>
            <a:ext cx="28575" cy="15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27"/>
              <a:buFont typeface="Montserrat"/>
              <a:buNone/>
            </a:pPr>
            <a:r>
              <a:rPr lang="en-US" sz="727" b="0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486400" y="3912989"/>
            <a:ext cx="28575" cy="15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27"/>
              <a:buFont typeface="Montserrat"/>
              <a:buNone/>
            </a:pPr>
            <a:r>
              <a:rPr lang="en-US" sz="727" b="0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486400" y="4248745"/>
            <a:ext cx="28575" cy="15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27"/>
              <a:buFont typeface="Montserrat"/>
              <a:buNone/>
            </a:pPr>
            <a:r>
              <a:rPr lang="en-US" sz="727" b="0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486400" y="4584502"/>
            <a:ext cx="28575" cy="159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27"/>
              <a:buFont typeface="Montserrat"/>
              <a:buNone/>
            </a:pPr>
            <a:r>
              <a:rPr lang="en-US" sz="727" b="0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" y="57150"/>
            <a:ext cx="90297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6"/>
          <p:cNvSpPr/>
          <p:nvPr/>
        </p:nvSpPr>
        <p:spPr>
          <a:xfrm>
            <a:off x="57150" y="57150"/>
            <a:ext cx="9144000" cy="1143000"/>
          </a:xfrm>
          <a:prstGeom prst="rect">
            <a:avLst/>
          </a:prstGeom>
          <a:solidFill>
            <a:srgbClr val="0031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628650" y="414338"/>
            <a:ext cx="8572500" cy="48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62"/>
              <a:buFont typeface="Montserrat"/>
              <a:buNone/>
            </a:pPr>
            <a:r>
              <a:rPr lang="en-US" sz="2862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QUALIDADE E DESEMPENHO</a:t>
            </a:r>
            <a:endParaRPr sz="286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1698427"/>
            <a:ext cx="357188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/>
          <p:nvPr/>
        </p:nvSpPr>
        <p:spPr>
          <a:xfrm>
            <a:off x="1164431" y="1628775"/>
            <a:ext cx="3321844" cy="139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84"/>
              <a:buFont typeface="Montserrat"/>
              <a:buNone/>
            </a:pPr>
            <a:r>
              <a:rPr lang="en-US" sz="784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SEGURANÇA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164431" y="1803797"/>
            <a:ext cx="3321844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397"/>
              <a:buFont typeface="Montserrat"/>
              <a:buNone/>
            </a:pPr>
            <a:r>
              <a:rPr lang="en-US" sz="1397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Proteção de Dados</a:t>
            </a:r>
            <a:endParaRPr sz="139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164431" y="2175272"/>
            <a:ext cx="3321844" cy="36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942"/>
              <a:buFont typeface="Montserrat"/>
              <a:buNone/>
            </a:pPr>
            <a:r>
              <a:rPr lang="en-US" sz="942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Garantia de integridade e confidencialidade das informações e transações.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72025" y="1698427"/>
            <a:ext cx="401836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/>
          <p:cNvSpPr/>
          <p:nvPr/>
        </p:nvSpPr>
        <p:spPr>
          <a:xfrm>
            <a:off x="5352455" y="1628775"/>
            <a:ext cx="3277195" cy="139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84"/>
              <a:buFont typeface="Montserrat"/>
              <a:buNone/>
            </a:pPr>
            <a:r>
              <a:rPr lang="en-US" sz="784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DESEMPENHO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352455" y="1803797"/>
            <a:ext cx="3277195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397"/>
              <a:buFont typeface="Montserrat"/>
              <a:buNone/>
            </a:pPr>
            <a:r>
              <a:rPr lang="en-US" sz="1397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Alta Performance</a:t>
            </a:r>
            <a:endParaRPr sz="139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352455" y="2175272"/>
            <a:ext cx="3277195" cy="36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942"/>
              <a:buFont typeface="Montserrat"/>
              <a:buNone/>
            </a:pPr>
            <a:r>
              <a:rPr lang="en-US" sz="942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Resposta rápida e eficiente do sistema para uma melhor experiência do usuário.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" y="3047870"/>
            <a:ext cx="446484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6"/>
          <p:cNvSpPr/>
          <p:nvPr/>
        </p:nvSpPr>
        <p:spPr>
          <a:xfrm>
            <a:off x="1253728" y="2978218"/>
            <a:ext cx="3232547" cy="139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84"/>
              <a:buFont typeface="Montserrat"/>
              <a:buNone/>
            </a:pPr>
            <a:r>
              <a:rPr lang="en-US" sz="784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USABILIDADE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253728" y="3153240"/>
            <a:ext cx="3232547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397"/>
              <a:buFont typeface="Montserrat"/>
              <a:buNone/>
            </a:pPr>
            <a:r>
              <a:rPr lang="en-US" sz="1397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Interface Intuitiva</a:t>
            </a:r>
            <a:endParaRPr sz="139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1253728" y="3524715"/>
            <a:ext cx="3232547" cy="36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942"/>
              <a:buFont typeface="Montserrat"/>
              <a:buNone/>
            </a:pPr>
            <a:r>
              <a:rPr lang="en-US" sz="942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Facilidade de navegação e uso para todos os perfis de usuários.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72025" y="3047870"/>
            <a:ext cx="357188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/>
          <p:nvPr/>
        </p:nvSpPr>
        <p:spPr>
          <a:xfrm>
            <a:off x="5307806" y="2978218"/>
            <a:ext cx="3321844" cy="139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84"/>
              <a:buFont typeface="Montserrat"/>
              <a:buNone/>
            </a:pPr>
            <a:r>
              <a:rPr lang="en-US" sz="784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CONFIABILIDADE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307806" y="3153240"/>
            <a:ext cx="3321844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397"/>
              <a:buFont typeface="Montserrat"/>
              <a:buNone/>
            </a:pPr>
            <a:r>
              <a:rPr lang="en-US" sz="1397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Estabilidade</a:t>
            </a:r>
            <a:endParaRPr sz="139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307806" y="3524715"/>
            <a:ext cx="3321844" cy="36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942"/>
              <a:buFont typeface="Montserrat"/>
              <a:buNone/>
            </a:pPr>
            <a:r>
              <a:rPr lang="en-US" sz="942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Disponibilidade contínua da plataforma e robustez contra falhas.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" y="57150"/>
            <a:ext cx="90297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7"/>
          <p:cNvSpPr/>
          <p:nvPr/>
        </p:nvSpPr>
        <p:spPr>
          <a:xfrm>
            <a:off x="57150" y="57150"/>
            <a:ext cx="9144000" cy="1143000"/>
          </a:xfrm>
          <a:prstGeom prst="rect">
            <a:avLst/>
          </a:prstGeom>
          <a:solidFill>
            <a:srgbClr val="0031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628650" y="414338"/>
            <a:ext cx="8572500" cy="48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62"/>
              <a:buFont typeface="Montserrat"/>
              <a:buNone/>
            </a:pPr>
            <a:r>
              <a:rPr lang="en-US" sz="2862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ARQUITETURA E DADOS</a:t>
            </a:r>
            <a:endParaRPr sz="286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1814513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7"/>
          <p:cNvSpPr/>
          <p:nvPr/>
        </p:nvSpPr>
        <p:spPr>
          <a:xfrm>
            <a:off x="628650" y="2471738"/>
            <a:ext cx="342900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1808"/>
              <a:buFont typeface="Montserrat"/>
              <a:buNone/>
            </a:pPr>
            <a:r>
              <a:rPr lang="en-US" sz="1808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ESTRUTURA</a:t>
            </a:r>
            <a:endParaRPr sz="18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914400" y="3241475"/>
            <a:ext cx="30024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Diagramas de Casos de Uso (Web/Desktop)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914400" y="3805833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Diagramas de Classes Detalhados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914400" y="4141589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Dicionário de Dados Completo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914400" y="4477345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Mapeamento de Fluxos de Usuários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629150" y="1200150"/>
            <a:ext cx="4572000" cy="4000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914400" y="3241477"/>
            <a:ext cx="107156" cy="205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790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885"/>
              <a:buFont typeface="Montserrat"/>
              <a:buNone/>
            </a:pPr>
            <a:r>
              <a:rPr lang="en-US" sz="885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914400" y="3805833"/>
            <a:ext cx="107156" cy="205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790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885"/>
              <a:buFont typeface="Montserrat"/>
              <a:buNone/>
            </a:pPr>
            <a:r>
              <a:rPr lang="en-US" sz="885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914400" y="4141589"/>
            <a:ext cx="107156" cy="205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790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885"/>
              <a:buFont typeface="Montserrat"/>
              <a:buNone/>
            </a:pPr>
            <a:r>
              <a:rPr lang="en-US" sz="885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914400" y="4477345"/>
            <a:ext cx="107156" cy="205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790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885"/>
              <a:buFont typeface="Montserrat"/>
              <a:buNone/>
            </a:pPr>
            <a:r>
              <a:rPr lang="en-US" sz="885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00650" y="1814513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/>
          <p:nvPr/>
        </p:nvSpPr>
        <p:spPr>
          <a:xfrm>
            <a:off x="5200650" y="2471738"/>
            <a:ext cx="342900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1808"/>
              <a:buFont typeface="Montserrat"/>
              <a:buNone/>
            </a:pPr>
            <a:r>
              <a:rPr lang="en-US" sz="1808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BANCO DE DADOS</a:t>
            </a:r>
            <a:endParaRPr sz="18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5486400" y="3241477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Tabelas: Freelancer e Empresa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486400" y="3577233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Gestão de Propostas e Contratos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486400" y="3912989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Controle de Pagamentos e Avaliações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5486400" y="4248745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Estrutura Relacional Robusta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486400" y="3241477"/>
            <a:ext cx="107156" cy="205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790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885"/>
              <a:buFont typeface="Montserrat"/>
              <a:buNone/>
            </a:pPr>
            <a:r>
              <a:rPr lang="en-US" sz="885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5486400" y="3577233"/>
            <a:ext cx="107156" cy="205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790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885"/>
              <a:buFont typeface="Montserrat"/>
              <a:buNone/>
            </a:pPr>
            <a:r>
              <a:rPr lang="en-US" sz="885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5486400" y="3912989"/>
            <a:ext cx="107156" cy="205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790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885"/>
              <a:buFont typeface="Montserrat"/>
              <a:buNone/>
            </a:pPr>
            <a:r>
              <a:rPr lang="en-US" sz="885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5486400" y="4248745"/>
            <a:ext cx="107156" cy="205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790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885"/>
              <a:buFont typeface="Montserrat"/>
              <a:buNone/>
            </a:pPr>
            <a:r>
              <a:rPr lang="en-US" sz="885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✓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" y="57150"/>
            <a:ext cx="90297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/>
          <p:nvPr/>
        </p:nvSpPr>
        <p:spPr>
          <a:xfrm>
            <a:off x="57150" y="57150"/>
            <a:ext cx="9144000" cy="1143000"/>
          </a:xfrm>
          <a:prstGeom prst="rect">
            <a:avLst/>
          </a:prstGeom>
          <a:solidFill>
            <a:srgbClr val="0031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628650" y="414338"/>
            <a:ext cx="8572500" cy="48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62"/>
              <a:buFont typeface="Montserrat"/>
              <a:buNone/>
            </a:pPr>
            <a:r>
              <a:rPr lang="en-US" sz="2862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BASE TECNOLÓGICA</a:t>
            </a:r>
            <a:endParaRPr sz="286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1698427"/>
            <a:ext cx="446484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8"/>
          <p:cNvSpPr/>
          <p:nvPr/>
        </p:nvSpPr>
        <p:spPr>
          <a:xfrm>
            <a:off x="1253728" y="1628775"/>
            <a:ext cx="3232547" cy="139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84"/>
              <a:buFont typeface="Montserrat"/>
              <a:buNone/>
            </a:pPr>
            <a:r>
              <a:rPr lang="en-US" sz="784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LINGUAGENS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1253728" y="1803797"/>
            <a:ext cx="3232547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397"/>
              <a:buFont typeface="Montserrat"/>
              <a:buNone/>
            </a:pPr>
            <a:r>
              <a:rPr lang="en-US" sz="1397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Core Stack</a:t>
            </a:r>
            <a:endParaRPr sz="139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1253728" y="2182410"/>
            <a:ext cx="32325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942"/>
              <a:buFont typeface="Montserrat"/>
              <a:buNone/>
            </a:pPr>
            <a:r>
              <a:rPr lang="en-US" sz="942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Python, JavaScript, HTML5, CSS3,</a:t>
            </a:r>
            <a:r>
              <a:rPr lang="en-US" sz="942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Java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72025" y="1698427"/>
            <a:ext cx="401836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8"/>
          <p:cNvSpPr/>
          <p:nvPr/>
        </p:nvSpPr>
        <p:spPr>
          <a:xfrm>
            <a:off x="5352455" y="1628775"/>
            <a:ext cx="3277195" cy="139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84"/>
              <a:buFont typeface="Montserrat"/>
              <a:buNone/>
            </a:pPr>
            <a:r>
              <a:rPr lang="en-US" sz="784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FRAMEWORK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352455" y="1803797"/>
            <a:ext cx="3277195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397"/>
              <a:buFont typeface="Montserrat"/>
              <a:buNone/>
            </a:pPr>
            <a:r>
              <a:rPr lang="en-US" sz="1397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Django</a:t>
            </a:r>
            <a:endParaRPr sz="139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5352455" y="2175272"/>
            <a:ext cx="3277195" cy="180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942"/>
              <a:buFont typeface="Montserrat"/>
              <a:buNone/>
            </a:pPr>
            <a:r>
              <a:rPr lang="en-US" sz="942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ágil e seguro para o backend.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" y="2867853"/>
            <a:ext cx="312539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8"/>
          <p:cNvSpPr/>
          <p:nvPr/>
        </p:nvSpPr>
        <p:spPr>
          <a:xfrm>
            <a:off x="1119783" y="2798201"/>
            <a:ext cx="3366492" cy="139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84"/>
              <a:buFont typeface="Montserrat"/>
              <a:buNone/>
            </a:pPr>
            <a:r>
              <a:rPr lang="en-US" sz="784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DADOS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1119783" y="2973223"/>
            <a:ext cx="3366492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397"/>
              <a:buFont typeface="Montserrat"/>
              <a:buNone/>
            </a:pPr>
            <a:r>
              <a:rPr lang="en-US" sz="1397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Banco de Dados</a:t>
            </a:r>
            <a:endParaRPr sz="139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119783" y="3344698"/>
            <a:ext cx="3366492" cy="180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942"/>
              <a:buFont typeface="Montserrat"/>
              <a:buNone/>
            </a:pPr>
            <a:r>
              <a:rPr lang="en-US" sz="942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Estrutura robusta para gestão de usuários e projetos.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72025" y="2867853"/>
            <a:ext cx="446484" cy="35718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8"/>
          <p:cNvSpPr/>
          <p:nvPr/>
        </p:nvSpPr>
        <p:spPr>
          <a:xfrm>
            <a:off x="5397103" y="2798201"/>
            <a:ext cx="3232547" cy="139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306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784"/>
              <a:buFont typeface="Montserrat"/>
              <a:buNone/>
            </a:pPr>
            <a:r>
              <a:rPr lang="en-US" sz="784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PLATAFORMAS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5397103" y="2973223"/>
            <a:ext cx="3232547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397"/>
              <a:buFont typeface="Montserrat"/>
              <a:buNone/>
            </a:pPr>
            <a:r>
              <a:rPr lang="en-US" sz="1397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Web &amp; Desktop</a:t>
            </a:r>
            <a:endParaRPr sz="139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397103" y="3344698"/>
            <a:ext cx="3232547" cy="36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942"/>
              <a:buFont typeface="Montserrat"/>
              <a:buNone/>
            </a:pPr>
            <a:r>
              <a:rPr lang="en-US" sz="942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Acesso completo via navegador e gestão dedicada desktop.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" y="57150"/>
            <a:ext cx="90297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57150" y="57150"/>
            <a:ext cx="9144000" cy="1143000"/>
          </a:xfrm>
          <a:prstGeom prst="rect">
            <a:avLst/>
          </a:prstGeom>
          <a:solidFill>
            <a:srgbClr val="0031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628650" y="414338"/>
            <a:ext cx="8572500" cy="48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62"/>
              <a:buFont typeface="Montserrat"/>
              <a:buNone/>
            </a:pPr>
            <a:r>
              <a:rPr lang="en-US" sz="2862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SEGURANÇA DE DADOS</a:t>
            </a:r>
            <a:endParaRPr sz="286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181451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"/>
          <p:cNvSpPr/>
          <p:nvPr/>
        </p:nvSpPr>
        <p:spPr>
          <a:xfrm>
            <a:off x="628650" y="2471738"/>
            <a:ext cx="342900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8"/>
              <a:buFont typeface="Montserrat"/>
              <a:buNone/>
            </a:pPr>
            <a:r>
              <a:rPr lang="en-US" sz="1808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POLÍTICA DE BACKUP</a:t>
            </a:r>
            <a:endParaRPr sz="18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914400" y="3241476"/>
            <a:ext cx="2937300" cy="3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Backup Completo Semanal (Domingo 00h)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914400" y="3805833"/>
            <a:ext cx="3143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Armazenamento em Mídia Física (HD Externo)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914400" y="4370189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Retenção de Backups por 1 Mês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914400" y="4705945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Criptografia de Dados Essenciais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629150" y="1200150"/>
            <a:ext cx="4572000" cy="4000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0" name="Google Shape;240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3241477"/>
            <a:ext cx="125016" cy="159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3805833"/>
            <a:ext cx="125016" cy="159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4370189"/>
            <a:ext cx="125016" cy="159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4705945"/>
            <a:ext cx="125016" cy="159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00650" y="181451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9"/>
          <p:cNvSpPr/>
          <p:nvPr/>
        </p:nvSpPr>
        <p:spPr>
          <a:xfrm>
            <a:off x="5200650" y="2471738"/>
            <a:ext cx="342900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43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808"/>
              <a:buFont typeface="Montserrat"/>
              <a:buNone/>
            </a:pPr>
            <a:r>
              <a:rPr lang="en-US" sz="1808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RECUPERAÇÃO</a:t>
            </a:r>
            <a:endParaRPr sz="18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5486400" y="3241477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Procedimento de Restore Rápido e Eficaz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5486400" y="3577233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Testes de Integridade Trimestrais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5486400" y="3912989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Controle de Acesso Restrito e Auditado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5486400" y="4248745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2575" tIns="0" rIns="0" bIns="0" anchor="t" anchorCtr="0">
            <a:spAutoFit/>
          </a:bodyPr>
          <a:lstStyle/>
          <a:p>
            <a:pPr marL="0" marR="0" lvl="0" indent="0" algn="l" rtl="0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Monitoramento Contínuo de Logs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0" y="3241477"/>
            <a:ext cx="125016" cy="159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0" y="3577233"/>
            <a:ext cx="125016" cy="159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0" y="3912989"/>
            <a:ext cx="125016" cy="159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0" y="4248745"/>
            <a:ext cx="125016" cy="159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" y="57150"/>
            <a:ext cx="9029700" cy="5143500"/>
          </a:xfrm>
          <a:prstGeom prst="rect">
            <a:avLst/>
          </a:prstGeom>
          <a:noFill/>
          <a:ln w="9525" cap="flat" cmpd="sng">
            <a:solidFill>
              <a:srgbClr val="00315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60" name="Google Shape;260;p11"/>
          <p:cNvSpPr/>
          <p:nvPr/>
        </p:nvSpPr>
        <p:spPr>
          <a:xfrm>
            <a:off x="628650" y="485775"/>
            <a:ext cx="8572500" cy="557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580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3293"/>
              <a:buFont typeface="Montserrat"/>
              <a:buNone/>
            </a:pPr>
            <a:r>
              <a:rPr lang="en-US" sz="3293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IMPACTO E RESULTADOS</a:t>
            </a:r>
            <a:endParaRPr sz="32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57150" y="1643063"/>
            <a:ext cx="4572000" cy="3214688"/>
          </a:xfrm>
          <a:prstGeom prst="rect">
            <a:avLst/>
          </a:prstGeom>
          <a:solidFill>
            <a:srgbClr val="0093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2" name="Google Shape;262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1953816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1"/>
          <p:cNvSpPr/>
          <p:nvPr/>
        </p:nvSpPr>
        <p:spPr>
          <a:xfrm>
            <a:off x="935831" y="1928813"/>
            <a:ext cx="2520000" cy="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2"/>
              <a:buFont typeface="Montserrat"/>
              <a:buNone/>
            </a:pPr>
            <a:r>
              <a:rPr lang="en-US" sz="1602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PARA FREELANCERS</a:t>
            </a:r>
            <a:endParaRPr sz="16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914400" y="2421731"/>
            <a:ext cx="3286125" cy="4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9"/>
              <a:buFont typeface="Montserrat"/>
              <a:buNone/>
            </a:pPr>
            <a:r>
              <a:rPr lang="en-US" sz="1159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Ampliação da visibilidade profissional no mercado.</a:t>
            </a:r>
            <a:endParaRPr sz="115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914400" y="3004617"/>
            <a:ext cx="3286125" cy="4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9"/>
              <a:buFont typeface="Montserrat"/>
              <a:buNone/>
            </a:pPr>
            <a:r>
              <a:rPr lang="en-US" sz="1159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Gestão centralizada de portfólio e pagamentos.</a:t>
            </a:r>
            <a:endParaRPr sz="115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914400" y="3587502"/>
            <a:ext cx="3286125" cy="4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7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9"/>
              <a:buFont typeface="Montserrat"/>
              <a:buNone/>
            </a:pPr>
            <a:r>
              <a:rPr lang="en-US" sz="1159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Ambiente seguro para interação com clientes.</a:t>
            </a:r>
            <a:endParaRPr sz="115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4629150" y="1643063"/>
            <a:ext cx="4572000" cy="32146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8" name="Google Shape;268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00650" y="1953816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1"/>
          <p:cNvSpPr/>
          <p:nvPr/>
        </p:nvSpPr>
        <p:spPr>
          <a:xfrm>
            <a:off x="5479256" y="1928813"/>
            <a:ext cx="1919883" cy="278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32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602"/>
              <a:buFont typeface="Montserrat"/>
              <a:buNone/>
            </a:pPr>
            <a:r>
              <a:rPr lang="en-US" sz="1602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PARA CLIENTES</a:t>
            </a:r>
            <a:endParaRPr sz="16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5486400" y="2421731"/>
            <a:ext cx="3286125" cy="4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7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159"/>
              <a:buFont typeface="Montserrat"/>
              <a:buNone/>
            </a:pPr>
            <a:r>
              <a:rPr lang="en-US" sz="1159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Acesso rápido a talentos qualificados e validados.</a:t>
            </a:r>
            <a:endParaRPr sz="115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5486400" y="3004617"/>
            <a:ext cx="3286125" cy="4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7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159"/>
              <a:buFont typeface="Montserrat"/>
              <a:buNone/>
            </a:pPr>
            <a:r>
              <a:rPr lang="en-US" sz="1159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Filtros inteligentes para contratação assertiva.</a:t>
            </a:r>
            <a:endParaRPr sz="115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5486400" y="3587502"/>
            <a:ext cx="3286125" cy="440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78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159"/>
              <a:buFont typeface="Montserrat"/>
              <a:buNone/>
            </a:pPr>
            <a:r>
              <a:rPr lang="en-US" sz="1159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Acompanhamento simplificado de demandas.</a:t>
            </a:r>
            <a:endParaRPr sz="115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57150" y="4705945"/>
            <a:ext cx="9144000" cy="494705"/>
          </a:xfrm>
          <a:prstGeom prst="rect">
            <a:avLst/>
          </a:prstGeom>
          <a:solidFill>
            <a:srgbClr val="0031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57150" y="4705945"/>
            <a:ext cx="9144000" cy="494705"/>
          </a:xfrm>
          <a:prstGeom prst="rect">
            <a:avLst/>
          </a:prstGeom>
          <a:solidFill>
            <a:srgbClr val="00315F"/>
          </a:solidFill>
          <a:ln>
            <a:noFill/>
          </a:ln>
        </p:spPr>
        <p:txBody>
          <a:bodyPr spcFirstLastPara="1" wrap="square" lIns="0" tIns="170050" rIns="0" bIns="170050" anchor="t" anchorCtr="0">
            <a:spAutoFit/>
          </a:bodyPr>
          <a:lstStyle/>
          <a:p>
            <a:pPr marL="0" marR="0" lvl="0" indent="0" algn="ctr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3"/>
              <a:buFont typeface="Montserrat"/>
              <a:buNone/>
            </a:pPr>
            <a:r>
              <a:rPr lang="en-US" sz="1193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FOCO EM PRODUTIVIDADE E SATISFAÇÃO MÚTUA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" y="57150"/>
            <a:ext cx="9029700" cy="5390657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2"/>
          <p:cNvSpPr/>
          <p:nvPr/>
        </p:nvSpPr>
        <p:spPr>
          <a:xfrm>
            <a:off x="628650" y="485775"/>
            <a:ext cx="8572500" cy="48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774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2862"/>
              <a:buFont typeface="Montserrat"/>
              <a:buNone/>
            </a:pPr>
            <a:r>
              <a:rPr lang="en-US" sz="2862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EVOLUÇÃO CONTÍNUA</a:t>
            </a:r>
            <a:endParaRPr sz="286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628650" y="1573411"/>
            <a:ext cx="3857625" cy="1845571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628650" y="1573411"/>
            <a:ext cx="3857625" cy="28575"/>
          </a:xfrm>
          <a:prstGeom prst="rect">
            <a:avLst/>
          </a:prstGeom>
          <a:solidFill>
            <a:srgbClr val="0031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4" name="Google Shape;284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1885950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2"/>
          <p:cNvSpPr/>
          <p:nvPr/>
        </p:nvSpPr>
        <p:spPr>
          <a:xfrm>
            <a:off x="914400" y="2350294"/>
            <a:ext cx="3286125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7"/>
              <a:buFont typeface="Montserrat"/>
              <a:buNone/>
            </a:pPr>
            <a:r>
              <a:rPr lang="en-US" sz="13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INTELIGÊNCIA ARTIFICIAL</a:t>
            </a:r>
            <a:endParaRPr sz="139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914400" y="2721769"/>
            <a:ext cx="3286125" cy="540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2"/>
              <a:buFont typeface="Montserrat"/>
              <a:buNone/>
            </a:pPr>
            <a:r>
              <a:rPr lang="en-US" sz="94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Implementação de algoritmos de IA para matchmaking avançado entre freelancers e projetos.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4772025" y="1573411"/>
            <a:ext cx="3857625" cy="1816996"/>
          </a:xfrm>
          <a:prstGeom prst="rect">
            <a:avLst/>
          </a:prstGeom>
          <a:solidFill>
            <a:srgbClr val="0031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4772025" y="1573411"/>
            <a:ext cx="3857625" cy="28575"/>
          </a:xfrm>
          <a:prstGeom prst="rect">
            <a:avLst/>
          </a:prstGeom>
          <a:solidFill>
            <a:srgbClr val="0093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9" name="Google Shape;289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57775" y="1885950"/>
            <a:ext cx="214313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2"/>
          <p:cNvSpPr/>
          <p:nvPr/>
        </p:nvSpPr>
        <p:spPr>
          <a:xfrm>
            <a:off x="5057775" y="2350294"/>
            <a:ext cx="3286125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7"/>
              <a:buFont typeface="Montserrat"/>
              <a:buNone/>
            </a:pPr>
            <a:r>
              <a:rPr lang="en-US" sz="1397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MOBILE</a:t>
            </a:r>
            <a:endParaRPr sz="139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5057775" y="2721769"/>
            <a:ext cx="3286125" cy="36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Montserrat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 de aplicativo nativo para iOS e Android, facilitando a gestão em tempo real.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628650" y="3676157"/>
            <a:ext cx="3857625" cy="1743075"/>
          </a:xfrm>
          <a:prstGeom prst="rect">
            <a:avLst/>
          </a:prstGeom>
          <a:solidFill>
            <a:srgbClr val="0031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628650" y="3676157"/>
            <a:ext cx="3857625" cy="28575"/>
          </a:xfrm>
          <a:prstGeom prst="rect">
            <a:avLst/>
          </a:prstGeom>
          <a:solidFill>
            <a:srgbClr val="0093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4" name="Google Shape;294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3988696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2"/>
          <p:cNvSpPr/>
          <p:nvPr/>
        </p:nvSpPr>
        <p:spPr>
          <a:xfrm>
            <a:off x="914400" y="4453040"/>
            <a:ext cx="3286125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7"/>
              <a:buFont typeface="Montserrat"/>
              <a:buNone/>
            </a:pPr>
            <a:r>
              <a:rPr lang="en-US" sz="1397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PAGAMENTO ESCROW</a:t>
            </a:r>
            <a:endParaRPr sz="139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914400" y="4824515"/>
            <a:ext cx="3286125" cy="36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Montserrat"/>
              <a:buNone/>
            </a:pPr>
            <a:r>
              <a:rPr lang="en-US" sz="942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Sistema de garantia de pagamento para aumentar a segurança em todas as transações da plataforma.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4772025" y="3676157"/>
            <a:ext cx="3857625" cy="174307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4772025" y="3676157"/>
            <a:ext cx="3857625" cy="28575"/>
          </a:xfrm>
          <a:prstGeom prst="rect">
            <a:avLst/>
          </a:prstGeom>
          <a:solidFill>
            <a:srgbClr val="0031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9" name="Google Shape;299;p1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57775" y="3988696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2"/>
          <p:cNvSpPr/>
          <p:nvPr/>
        </p:nvSpPr>
        <p:spPr>
          <a:xfrm>
            <a:off x="5057775" y="4453040"/>
            <a:ext cx="3286125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7"/>
              <a:buFont typeface="Montserrat"/>
              <a:buNone/>
            </a:pPr>
            <a:r>
              <a:rPr lang="en-US" sz="1397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EXPANSÃO GLOBAL</a:t>
            </a:r>
            <a:endParaRPr sz="139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5057775" y="4824515"/>
            <a:ext cx="3286125" cy="36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6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2"/>
              <a:buFont typeface="Montserrat"/>
              <a:buNone/>
            </a:pPr>
            <a:r>
              <a:rPr lang="en-US" sz="942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Suporte a múltiplos idiomas e moedas para internacionalização dos serviços da Freelacademy.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" y="57150"/>
            <a:ext cx="90297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3"/>
          <p:cNvSpPr/>
          <p:nvPr/>
        </p:nvSpPr>
        <p:spPr>
          <a:xfrm>
            <a:off x="628650" y="1485900"/>
            <a:ext cx="48863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564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4974"/>
              <a:buFont typeface="Montserrat"/>
              <a:buNone/>
            </a:pPr>
            <a:r>
              <a:rPr lang="en-US" sz="4974" b="1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OBRIGADO!</a:t>
            </a:r>
            <a:endParaRPr sz="497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628650" y="2700338"/>
            <a:ext cx="4886325" cy="208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00315F"/>
              </a:buClr>
              <a:buSzPts val="1269"/>
              <a:buFont typeface="Montserrat"/>
              <a:buNone/>
            </a:pPr>
            <a:r>
              <a:rPr lang="en-US" sz="1269" b="0" i="0" u="none" strike="noStrike" cap="none">
                <a:solidFill>
                  <a:srgbClr val="00315F"/>
                </a:solidFill>
                <a:latin typeface="Montserrat"/>
                <a:ea typeface="Montserrat"/>
                <a:cs typeface="Montserrat"/>
                <a:sym typeface="Montserrat"/>
              </a:rPr>
              <a:t>FREELACADEMY: CONECTANDO TALENTOS</a:t>
            </a:r>
            <a:endParaRPr sz="12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5514975" y="57150"/>
            <a:ext cx="3686175" cy="5143500"/>
          </a:xfrm>
          <a:prstGeom prst="rect">
            <a:avLst/>
          </a:prstGeom>
          <a:solidFill>
            <a:srgbClr val="0031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5943600" y="1802904"/>
            <a:ext cx="3257550" cy="417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093D4"/>
              </a:buClr>
              <a:buSzPts val="2436"/>
              <a:buFont typeface="Montserrat"/>
              <a:buNone/>
            </a:pPr>
            <a:r>
              <a:rPr lang="en-US" sz="2436" b="1" i="0" u="none" strike="noStrike" cap="none">
                <a:solidFill>
                  <a:srgbClr val="0093D4"/>
                </a:solidFill>
                <a:latin typeface="Montserrat"/>
                <a:ea typeface="Montserrat"/>
                <a:cs typeface="Montserrat"/>
                <a:sym typeface="Montserrat"/>
              </a:rPr>
              <a:t>PERGUNTAS?</a:t>
            </a:r>
            <a:endParaRPr sz="24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3600" y="2664619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3"/>
          <p:cNvSpPr/>
          <p:nvPr/>
        </p:nvSpPr>
        <p:spPr>
          <a:xfrm>
            <a:off x="6229350" y="2649438"/>
            <a:ext cx="1993106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contato@freelacademy.com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3600" y="2980730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3"/>
          <p:cNvSpPr/>
          <p:nvPr/>
        </p:nvSpPr>
        <p:spPr>
          <a:xfrm>
            <a:off x="6229350" y="2965549"/>
            <a:ext cx="1694855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www.freelacademy.com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1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43600" y="3296841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3"/>
          <p:cNvSpPr/>
          <p:nvPr/>
        </p:nvSpPr>
        <p:spPr>
          <a:xfrm>
            <a:off x="6229350" y="3281660"/>
            <a:ext cx="1009055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ontserrat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/freelacademy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2105</Words>
  <Application>Microsoft Office PowerPoint</Application>
  <PresentationFormat>Apresentação na tela (16:9)</PresentationFormat>
  <Paragraphs>182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Montserrat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PptxGenJS</dc:creator>
  <cp:lastModifiedBy>ALDAIR THIAGO DIAS TERRA</cp:lastModifiedBy>
  <cp:revision>1</cp:revision>
  <dcterms:created xsi:type="dcterms:W3CDTF">2026-03-22T21:07:38Z</dcterms:created>
  <dcterms:modified xsi:type="dcterms:W3CDTF">2026-03-23T00:27:42Z</dcterms:modified>
</cp:coreProperties>
</file>